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2264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OPPORTUNITY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WELLNESS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Fall Prevention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Aging Adults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3200400" cy="36576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Pre-Seed  ·  18-Month Runway  ·  Series A Ready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371600"/>
            <a:ext cx="29260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2356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WELLNESS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EA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home feels safe again.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4297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havenhomewellness.ai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Wellness, Inc.  ·  Delaware C-Corp  ·  Confidential — Do Not Distribute  · 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Falls are the #1 cause of injury death in adults 65+.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18745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fall every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CDC, 2024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0320" y="12344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234440"/>
            <a:ext cx="18745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11s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visits the ER for a fall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NCOA, 2024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34440"/>
            <a:ext cx="18745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19m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dies from a fall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WISQARS, 2024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234440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medical cost of falls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CDC/NCOA, 2024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hip fractures are caused by falls. 25% of seniors who fracture a hip will die within one year.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NIH/PMC, Journal of Bone and Mineral Research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The Problem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boomers turn 65 every single day through 2030.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Bureau, 2024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2011680" cy="2011680"/>
          </a:xfrm>
          <a:prstGeom prst="oval">
            <a:avLst/>
          </a:prstGeom>
          <a:solidFill>
            <a:srgbClr val="2A5298">
              <a:alpha val="40000"/>
            </a:srgbClr>
          </a:solidFill>
          <a:ln w="19050">
            <a:solidFill>
              <a:srgbClr val="7EAF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70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" y="30723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5753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senior care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468880"/>
            <a:ext cx="1554480" cy="1554480"/>
          </a:xfrm>
          <a:prstGeom prst="oval">
            <a:avLst/>
          </a:prstGeom>
          <a:solidFill>
            <a:srgbClr val="2A5298">
              <a:alpha val="40000"/>
            </a:srgbClr>
          </a:solidFill>
          <a:ln w="19050">
            <a:solidFill>
              <a:srgbClr val="7EA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7020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29352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33238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fall prevention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2027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1188720" cy="1188720"/>
          </a:xfrm>
          <a:prstGeom prst="oval">
            <a:avLst/>
          </a:prstGeom>
          <a:solidFill>
            <a:srgbClr val="2A5298">
              <a:alpha val="40000"/>
            </a:srgbClr>
          </a:solidFill>
          <a:ln w="19050">
            <a:solidFill>
              <a:srgbClr val="7EAF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6471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28254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~$37M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31226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subs + enterprise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Market Opportunity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fall. Not after.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6B6B6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APPROACH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D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Responds after the fall has happened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Requires the senior to press a button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52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Wearable compliance drops within weeks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5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Binary alerts families tune out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Cameras feel like surveillance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prediction. No pattern recognition.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HAVEN'S APPROACH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2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76272"/>
            <a:ext cx="164592" cy="16459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85232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before the fall occurs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478024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sensors — nothing to wear or press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79776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85232" y="2752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monitoring with zero compliance burden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81528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85232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 with AI narratives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383280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5232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invisible — home is the hero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85032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85232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AI learns each individual's normal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The Solution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proprietary platforms. One ecosystem.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87452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417320"/>
            <a:ext cx="685800" cy="685800"/>
          </a:xfrm>
          <a:prstGeom prst="oval">
            <a:avLst/>
          </a:prstGeom>
          <a:solidFill>
            <a:srgbClr val="1B3A6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5727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Steadfast™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in-home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3337560"/>
            <a:ext cx="1234440" cy="256032"/>
          </a:xfrm>
          <a:prstGeom prst="rect">
            <a:avLst/>
          </a:prstGeom>
          <a:solidFill>
            <a:srgbClr val="EDF5E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Essential+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60320" y="11887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188720"/>
            <a:ext cx="1874520" cy="54864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16" name="Shape 13"/>
          <p:cNvSpPr/>
          <p:nvPr/>
        </p:nvSpPr>
        <p:spPr>
          <a:xfrm>
            <a:off x="3154680" y="1417320"/>
            <a:ext cx="685800" cy="685800"/>
          </a:xfrm>
          <a:prstGeom prst="oval">
            <a:avLst/>
          </a:prstGeom>
          <a:solidFill>
            <a:srgbClr val="2A529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57276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Stride™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69748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gait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AI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880360" y="3337560"/>
            <a:ext cx="1234440" cy="256032"/>
          </a:xfrm>
          <a:prstGeom prst="rect">
            <a:avLst/>
          </a:prstGeom>
          <a:solidFill>
            <a:srgbClr val="EDF5ED"/>
          </a:solidFill>
          <a:ln/>
        </p:spPr>
      </p:sp>
      <p:sp>
        <p:nvSpPr>
          <p:cNvPr id="21" name="Text 17"/>
          <p:cNvSpPr/>
          <p:nvPr/>
        </p:nvSpPr>
        <p:spPr>
          <a:xfrm>
            <a:off x="288036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Plus+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663440" y="11887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63440" y="1188720"/>
            <a:ext cx="18745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24" name="Shape 20"/>
          <p:cNvSpPr/>
          <p:nvPr/>
        </p:nvSpPr>
        <p:spPr>
          <a:xfrm>
            <a:off x="5257800" y="1417320"/>
            <a:ext cx="685800" cy="685800"/>
          </a:xfrm>
          <a:prstGeom prst="oval">
            <a:avLst/>
          </a:prstGeom>
          <a:solidFill>
            <a:srgbClr val="7EAF7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572768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63440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Beacon™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0060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Family/caregiver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983480" y="3337560"/>
            <a:ext cx="1234440" cy="256032"/>
          </a:xfrm>
          <a:prstGeom prst="rect">
            <a:avLst/>
          </a:prstGeom>
          <a:solidFill>
            <a:srgbClr val="EDF5ED"/>
          </a:solidFill>
          <a:ln/>
        </p:spPr>
      </p:sp>
      <p:sp>
        <p:nvSpPr>
          <p:cNvPr id="29" name="Text 24"/>
          <p:cNvSpPr/>
          <p:nvPr/>
        </p:nvSpPr>
        <p:spPr>
          <a:xfrm>
            <a:off x="498348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766560" y="11887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0" y="1188720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Shape 27"/>
          <p:cNvSpPr/>
          <p:nvPr/>
        </p:nvSpPr>
        <p:spPr>
          <a:xfrm>
            <a:off x="7360920" y="1417320"/>
            <a:ext cx="685800" cy="685800"/>
          </a:xfrm>
          <a:prstGeom prst="oval">
            <a:avLst/>
          </a:prstGeom>
          <a:solidFill>
            <a:srgbClr val="C9A84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572768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766560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Vigil™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90372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086600" y="3337560"/>
            <a:ext cx="1234440" cy="256032"/>
          </a:xfrm>
          <a:prstGeom prst="rect">
            <a:avLst/>
          </a:prstGeom>
          <a:solidFill>
            <a:srgbClr val="EDF5ED"/>
          </a:solidFill>
          <a:ln/>
        </p:spPr>
      </p:sp>
      <p:sp>
        <p:nvSpPr>
          <p:cNvPr id="37" name="Text 31"/>
          <p:cNvSpPr/>
          <p:nvPr/>
        </p:nvSpPr>
        <p:spPr>
          <a:xfrm>
            <a:off x="708660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is independently trademarked — a competitive moat single-product companies cannot replicate.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Platform Architecture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PROGRESS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pitching an idea. We're showing you what we built.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74520" cy="13716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Steadfast™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1783080"/>
            <a:ext cx="914400" cy="228600"/>
          </a:xfrm>
          <a:prstGeom prst="rect">
            <a:avLst/>
          </a:prstGeom>
          <a:solidFill>
            <a:srgbClr val="7EAF7E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7E"/>
                </a:solidFill>
              </a:rPr>
              <a:t>●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1188720"/>
            <a:ext cx="1874520" cy="13716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71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08960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Stride™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108960" y="1783080"/>
            <a:ext cx="914400" cy="228600"/>
          </a:xfrm>
          <a:prstGeom prst="rect">
            <a:avLst/>
          </a:prstGeom>
          <a:solidFill>
            <a:srgbClr val="7EAF7E">
              <a:alpha val="8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310896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743200" y="1828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7E"/>
                </a:solidFill>
              </a:rPr>
              <a:t>●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1188720"/>
            <a:ext cx="1874520" cy="13716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716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Beacon™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212080" y="1783080"/>
            <a:ext cx="914400" cy="228600"/>
          </a:xfrm>
          <a:prstGeom prst="rect">
            <a:avLst/>
          </a:prstGeom>
          <a:solidFill>
            <a:srgbClr val="7EAF7E">
              <a:alpha val="8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521208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46320" y="1828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7E"/>
                </a:solidFill>
              </a:rPr>
              <a:t>●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66560" y="1188720"/>
            <a:ext cx="1874520" cy="13716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716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Vigil™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315200" y="1783080"/>
            <a:ext cx="914400" cy="228600"/>
          </a:xfrm>
          <a:prstGeom prst="rect">
            <a:avLst/>
          </a:prstGeom>
          <a:solidFill>
            <a:srgbClr val="C9A84C">
              <a:alpha val="8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949440" y="1828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◐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accomplished — pre-funding: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46120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1520" y="3218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C-Corp incorporated, co-founder agreement executed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93592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152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assignment &amp; trade secret protocols in place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41064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152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identity system — 4 trademarked platform names</a:t>
            </a:r>
            <a:endParaRPr lang="en-US" sz="10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246120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29200" y="3218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 survey deployed — real user signal</a:t>
            </a:r>
            <a:endParaRPr lang="en-US" sz="10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593592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2920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12-slide investor deck, financial model, business plan complete</a:t>
            </a:r>
            <a:endParaRPr lang="en-US" sz="10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941064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2920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live at havenhomewellness.ai with waitlist capture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this accomplished with $0 in outside capital. Imagine what $1.5M unlocks.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Traction &amp; Progress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buyers. One mission.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417320"/>
            <a:ext cx="822960" cy="822960"/>
          </a:xfrm>
          <a:prstGeom prst="oval">
            <a:avLst/>
          </a:prstGeom>
          <a:solidFill>
            <a:srgbClr val="1B3A6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Adult Child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35-55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buyer. Worries daily.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for peace of mind.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53M unpaid caregivers in the U.S.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1417320"/>
            <a:ext cx="822960" cy="822960"/>
          </a:xfrm>
          <a:prstGeom prst="oval">
            <a:avLst/>
          </a:prstGeom>
          <a:solidFill>
            <a:srgbClr val="2A529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Senior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29184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7472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user. Values independence.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stay home safely.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must be invisible.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95160" y="1417320"/>
            <a:ext cx="822960" cy="822960"/>
          </a:xfrm>
          <a:prstGeom prst="oval">
            <a:avLst/>
          </a:prstGeom>
          <a:solidFill>
            <a:srgbClr val="7EAF7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002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12648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30936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living, home health,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plans.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outcomes, not features.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AARP/NAC Caregiving in the U.S. 2024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The Customer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math. Real assumptions.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508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1508760" cy="45720"/>
          </a:xfrm>
          <a:prstGeom prst="rect">
            <a:avLst/>
          </a:prstGeom>
          <a:solidFill>
            <a:srgbClr val="6B6B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1143000"/>
            <a:ext cx="1508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143000"/>
            <a:ext cx="1508760" cy="45720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2801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$29.99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4028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Steadfast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143000"/>
            <a:ext cx="1508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143000"/>
            <a:ext cx="1508760" cy="45720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2801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$44.99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89120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3192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intelligence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1143000"/>
            <a:ext cx="1508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1143000"/>
            <a:ext cx="1508760" cy="45720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12801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$59.99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Vigil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1143000"/>
            <a:ext cx="1508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143000"/>
            <a:ext cx="1508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2801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$79.99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772400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19659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Multi-senior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LTV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— FULL ASSUMPTIONS SHOWN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200400"/>
            <a:ext cx="54864" cy="1097280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$788K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4008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subs  ·  $26.26 ARPU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hardware attach + enterprise + data licensing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3200400"/>
            <a:ext cx="54864" cy="1097280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$4.3M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347472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subs  ·  $47.56 ARPU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7472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hardware attach + enterprise + data licensing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126480" y="32004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320040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630936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subs  ·  $66.16 ARPU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hardware attach + enterprise + data licensing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Revenue Model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 owns the empty quadrant.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71800" y="1143000"/>
            <a:ext cx="0" cy="320040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502920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645920" y="3383280"/>
            <a:ext cx="164592" cy="164592"/>
          </a:xfrm>
          <a:prstGeom prst="oval">
            <a:avLst/>
          </a:prstGeom>
          <a:solidFill>
            <a:srgbClr val="6B6B64"/>
          </a:solidFill>
          <a:ln/>
        </p:spPr>
      </p:sp>
      <p:sp>
        <p:nvSpPr>
          <p:cNvPr id="14" name="Text 12"/>
          <p:cNvSpPr/>
          <p:nvPr/>
        </p:nvSpPr>
        <p:spPr>
          <a:xfrm>
            <a:off x="1847088" y="33649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Alert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86000" y="3108960"/>
            <a:ext cx="164592" cy="164592"/>
          </a:xfrm>
          <a:prstGeom prst="oval">
            <a:avLst/>
          </a:prstGeom>
          <a:solidFill>
            <a:srgbClr val="6B6B64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3090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Guardian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371600" y="2560320"/>
            <a:ext cx="164592" cy="164592"/>
          </a:xfrm>
          <a:prstGeom prst="oval">
            <a:avLst/>
          </a:prstGeom>
          <a:solidFill>
            <a:srgbClr val="6B6B64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2542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840480" y="1645920"/>
            <a:ext cx="164592" cy="164592"/>
          </a:xfrm>
          <a:prstGeom prst="oval">
            <a:avLst/>
          </a:prstGeom>
          <a:solidFill>
            <a:srgbClr val="6B6B64"/>
          </a:solidFill>
          <a:ln/>
        </p:spPr>
      </p:sp>
      <p:sp>
        <p:nvSpPr>
          <p:cNvPr id="20" name="Text 18"/>
          <p:cNvSpPr/>
          <p:nvPr/>
        </p:nvSpPr>
        <p:spPr>
          <a:xfrm>
            <a:off x="4041648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CarePredict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89120" y="1828800"/>
            <a:ext cx="164592" cy="164592"/>
          </a:xfrm>
          <a:prstGeom prst="oval">
            <a:avLst/>
          </a:prstGeom>
          <a:solidFill>
            <a:srgbClr val="6B6B64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1810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VirtuSense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463040" y="1463040"/>
            <a:ext cx="320040" cy="320040"/>
          </a:xfrm>
          <a:prstGeom prst="oval">
            <a:avLst/>
          </a:prstGeom>
          <a:solidFill>
            <a:srgbClr val="7EAF7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1490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ONE ELSE IS HERE</a:t>
            </a:r>
            <a:endParaRPr lang="en-US" sz="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554480"/>
            <a:ext cx="164592" cy="16459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126480" y="1527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Consumer-friendly + predictive = empty quadrant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65960"/>
            <a:ext cx="164592" cy="16459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12648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tools sell to hospitals, not families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377440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126480" y="2350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 devices react — they don't predict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788920"/>
            <a:ext cx="164592" cy="16459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126480" y="2761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detect falls after they happen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200400"/>
            <a:ext cx="164592" cy="16459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126480" y="3172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4 data streams into one AI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611880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26480" y="3584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moat requires years to replicate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Competitive Landscape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specific. Stay focused. Let the mission pull the market.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The Adult Child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1371600" cy="18288"/>
          </a:xfrm>
          <a:prstGeom prst="rect">
            <a:avLst/>
          </a:prstGeom>
          <a:solidFill>
            <a:srgbClr val="E2E0D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167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Facebook/Instagram targeting 35-55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670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did you last worry about Mom?"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172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referral via Beacon sharing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91840" y="114300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19" name="Text 14"/>
          <p:cNvSpPr/>
          <p:nvPr/>
        </p:nvSpPr>
        <p:spPr>
          <a:xfrm>
            <a:off x="34747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The Senior's Trust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474720" y="1691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6–14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474720" y="1965960"/>
            <a:ext cx="1371600" cy="18288"/>
          </a:xfrm>
          <a:prstGeom prst="rect">
            <a:avLst/>
          </a:prstGeom>
          <a:solidFill>
            <a:srgbClr val="E2E0D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194560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49040" y="2167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referral partnerships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69748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49040" y="2670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Timed Up &amp; Go tool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200400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749040" y="3172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Agency, not surveillance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126480" y="114300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2"/>
          <p:cNvSpPr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Enterprise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309360" y="1691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12–18+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309360" y="1965960"/>
            <a:ext cx="1371600" cy="18288"/>
          </a:xfrm>
          <a:prstGeom prst="rect">
            <a:avLst/>
          </a:prstGeom>
          <a:solidFill>
            <a:srgbClr val="E2E0D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194560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583680" y="2167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living operators first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697480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583680" y="2670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&amp; Medicare Advantage</a:t>
            </a:r>
            <a:endParaRPr lang="en-US" sz="10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200400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583680" y="3172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Four-platform configurability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Go-to-Market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 Pre-Seed  ·  18 Months of Focused Execution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1920240" cy="320040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188720"/>
            <a:ext cx="13716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1188720"/>
            <a:ext cx="822960" cy="320040"/>
          </a:xfrm>
          <a:prstGeom prst="rect">
            <a:avLst/>
          </a:prstGeom>
          <a:solidFill>
            <a:srgbClr val="6B6B6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37360"/>
            <a:ext cx="1874520" cy="12801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737360"/>
            <a:ext cx="45720" cy="1280160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A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$750K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models, all 4 platforms, mobile 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1737360"/>
            <a:ext cx="1874520" cy="12801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1737360"/>
            <a:ext cx="45720" cy="1280160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paid digital, PR, referrals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737360"/>
            <a:ext cx="1874520" cy="12801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737360"/>
            <a:ext cx="45720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463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partners, advisory 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1737360"/>
            <a:ext cx="1874520" cy="12801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0" y="1737360"/>
            <a:ext cx="45720" cy="1280160"/>
          </a:xfrm>
          <a:prstGeom prst="rect">
            <a:avLst/>
          </a:prstGeom>
          <a:solidFill>
            <a:srgbClr val="6B6B64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IP, compliance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$1.5M BUYS AT 18 MONTHS</a:t>
            </a:r>
            <a:endParaRPr lang="en-US" sz="8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11880"/>
            <a:ext cx="164592" cy="16459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3152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paying subscribers</a:t>
            </a:r>
            <a:endParaRPr lang="en-US" sz="11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164592" cy="16459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31520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~$3.7M annualized revenue</a:t>
            </a:r>
            <a:endParaRPr lang="en-US" sz="11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1960"/>
            <a:ext cx="164592" cy="16459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3152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multi-stream AI dataset</a:t>
            </a:r>
            <a:endParaRPr lang="en-US" sz="11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11880"/>
            <a:ext cx="164592" cy="16459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02920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enterprise pilot agreements</a:t>
            </a:r>
            <a:endParaRPr lang="en-US" sz="11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31920"/>
            <a:ext cx="164592" cy="16459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029200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registered trademarks</a:t>
            </a:r>
            <a:endParaRPr lang="en-US" sz="11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251960"/>
            <a:ext cx="164592" cy="16459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02920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narrative: $12-18M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The Ask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converging at the same time.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Demographic Wave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boomers turn 65 every day through 2030. The market is larger today than yesterday and smaller today than tomorrow.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Bureau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A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Technology Readiness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radar, computer vision gait analysis, wearable APIs, and longitudinal AI modeling have all crossed from experimental to deployable.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Cultural Permission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permanently shifted how families think about aging parents. The emotional permission to care visibly has never been higher.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AARP, 2024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open. It won't stay open forever.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Why Now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E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HAVEN WINS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4572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Mission. Moat. Moment.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874520" cy="2468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18745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prevention is a cause, not a feature. Products built around genuine human urgency attract passionate early adopters and media.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874520" cy="2468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143000"/>
            <a:ext cx="1874520" cy="54864"/>
          </a:xfrm>
          <a:prstGeom prst="rect">
            <a:avLst/>
          </a:prstGeom>
          <a:solidFill>
            <a:srgbClr val="2A529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737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trademarked platforms under one brand — a moat that single-product competitors cannot replicate without building from scratch.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874520" cy="2468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143000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Moat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builds a proprietary multi-stream dataset. Competitors can copy features. They cannot copy longitudinal behavioral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874520" cy="2468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1143000"/>
            <a:ext cx="1874520" cy="5486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17373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technology, and cultural permission have never aligned like this. First mover captures the data advantage permanently.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86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POTENTIAL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UnitedHealth  ·  CVS Health  ·  Humana  ·  Medical device companies  ·  Consumer health platforms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8-12x revenue  ·  15-25x pre-seed return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  ·  Why Haven Wins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64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A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WELLNESS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286000"/>
            <a:ext cx="914400" cy="32004"/>
          </a:xfrm>
          <a:prstGeom prst="rect">
            <a:avLst/>
          </a:prstGeom>
          <a:solidFill>
            <a:srgbClr val="7EAF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home feels safe again.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 ·  18 Months  ·  Series A Ready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9A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Whitehead, CEO  ·  David A. Taylor, 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9A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havenhomewellness.ai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Home Wellness, Inc.  ·  Confidential — Do Not Distribute  · 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Haven Home Wellness — Pre-Seed Pitch Deck</dc:title>
  <dc:subject>PptxGenJS Presentation</dc:subject>
  <dc:creator>Haven Home Wellness</dc:creator>
  <cp:lastModifiedBy>Haven Home Wellness</cp:lastModifiedBy>
  <cp:revision>1</cp:revision>
  <dcterms:created xsi:type="dcterms:W3CDTF">2026-03-25T13:31:59Z</dcterms:created>
  <dcterms:modified xsi:type="dcterms:W3CDTF">2026-03-25T13:31:59Z</dcterms:modified>
</cp:coreProperties>
</file>